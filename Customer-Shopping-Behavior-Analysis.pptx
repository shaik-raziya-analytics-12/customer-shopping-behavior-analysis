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Open Sans Light"/>
      <p:regular r:id="rId201314"/>
    </p:embeddedFont>
    <p:embeddedFont>
      <p:font typeface="Open Sans Bold"/>
      <p:regular r:id="rId201315"/>
    </p:embeddedFont>
    <p:embeddedFont>
      <p:font typeface="Open Sans"/>
      <p:regular r:id="rId201316"/>
    </p:embeddedFont>
    <p:embeddedFont>
      <p:font typeface="Open Sans Medium"/>
      <p:regular r:id="rId201317"/>
    </p:embeddedFont>
    <p:embeddedFont>
      <p:font typeface="Open Sans SemiBold"/>
      <p:regular r:id="rId201318"/>
    </p:embeddedFont>
    <p:embeddedFont>
      <p:font typeface="Open Sans ExtraBold"/>
      <p:regular r:id="rId201319"/>
    </p:embeddedFont>
    <p:embeddedFont>
      <p:font typeface="Playfair Display"/>
      <p:regular r:id="rId201320"/>
    </p:embeddedFont>
    <p:embeddedFont>
      <p:font typeface="Playfair Display Medium"/>
      <p:regular r:id="rId201321"/>
    </p:embeddedFont>
    <p:embeddedFont>
      <p:font typeface="Playfair Display SemiBold"/>
      <p:regular r:id="rId201322"/>
    </p:embeddedFont>
    <p:embeddedFont>
      <p:font typeface="Playfair Display Bold"/>
      <p:regular r:id="rId201323"/>
    </p:embeddedFont>
    <p:embeddedFont>
      <p:font typeface="Playfair Display ExtraBold"/>
      <p:regular r:id="rId201324"/>
    </p:embeddedFont>
    <p:embeddedFont>
      <p:font typeface="Playfair Display Black"/>
      <p:regular r:id="rId2013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Analysis of 3,900 transactions to reveal spending patterns, product preferences, subscription behavior, and actionable recommendations for growth.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129382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Dataset Snapshot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784970"/>
            <a:ext cx="2290465" cy="1270471"/>
          </a:xfrm>
          <a:prstGeom prst="roundRect">
            <a:avLst>
              <a:gd name="adj" fmla="val 1674"/>
            </a:avLst>
          </a:prstGeom>
          <a:solidFill>
            <a:srgbClr val="E0E0EC"/>
          </a:solidFill>
          <a:ln/>
        </p:spPr>
      </p:sp>
      <p:sp>
        <p:nvSpPr>
          <p:cNvPr id="5" name="Text 2"/>
          <p:cNvSpPr/>
          <p:nvPr/>
        </p:nvSpPr>
        <p:spPr>
          <a:xfrm>
            <a:off x="4066877" y="1926729"/>
            <a:ext cx="2006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Rows &amp; Columns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6877" y="2233240"/>
            <a:ext cx="20069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3,900 rows · 18 columns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784970"/>
            <a:ext cx="2290539" cy="1270471"/>
          </a:xfrm>
          <a:prstGeom prst="roundRect">
            <a:avLst>
              <a:gd name="adj" fmla="val 1674"/>
            </a:avLst>
          </a:prstGeom>
          <a:solidFill>
            <a:srgbClr val="E0E0EC"/>
          </a:solidFill>
          <a:ln/>
        </p:spPr>
      </p:sp>
      <p:sp>
        <p:nvSpPr>
          <p:cNvPr id="8" name="Text 5"/>
          <p:cNvSpPr/>
          <p:nvPr/>
        </p:nvSpPr>
        <p:spPr>
          <a:xfrm>
            <a:off x="6499101" y="1926729"/>
            <a:ext cx="2007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9101" y="2233240"/>
            <a:ext cx="20070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Demographics, purchase details, behavior, shipping, discounts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197200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E0E0EC"/>
          </a:solidFill>
          <a:ln/>
        </p:spPr>
      </p:sp>
      <p:sp>
        <p:nvSpPr>
          <p:cNvPr id="11" name="Text 8"/>
          <p:cNvSpPr/>
          <p:nvPr/>
        </p:nvSpPr>
        <p:spPr>
          <a:xfrm>
            <a:off x="4066877" y="3338959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Missing Data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6877" y="3645471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 Rating: 37 null values (imputed by category median)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748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Preparation (Python)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701626"/>
            <a:ext cx="2628230" cy="2395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Loaded with pandas; used df.info() and describe() to inspect structure and stats. Renamed columns to snake_case for clarity. Imputed missing review ratings by product-category median.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Engineered age_group and purchase_frequency_days. Dropped promo_code_used after redundancy check with discount_applied. Exported cleaned dataframe to PostgreSQL.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Revenue by Gender (SQL)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62906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 customers generated higher total revenue in this dataset. Use targeted strategies to balance acquisition and maximize female customer value.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8898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High-Spending Discount Users &amp; Loyalty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687562"/>
            <a:ext cx="354360" cy="35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25119" y="2219102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High-Spend Using Discounts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3925119" y="252561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Identified 839 rows where customers used discounts but spent above average purchase amount.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3262759"/>
            <a:ext cx="354360" cy="354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25119" y="3794299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Repeat Buyer Loyalty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3925119" y="4100810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Repeat buyers segmented by subscription: No = 2,518; Yes = 958. Focus on converting repeat buyers to subscribers.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748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Geographic Distribution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2332434"/>
            <a:ext cx="2628230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locations by unique customer count (sample): Montana 96, California 95, Idaho 93, Illinois 92… data covers 50 locations. Use geo-targeted campaigns where customer density is highest.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Category Performance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62906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Clothing and Accessories drive volume. Average spend by category: Footwear $60.26, Clothing $60.03, Accessories ~$59.84, Outerwear $57.17 — prioritize high-volume, high-margin promotions.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3033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Customer &amp; Payment Insights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356842"/>
            <a:ext cx="1156246" cy="11562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9544" y="2356842"/>
            <a:ext cx="26538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Payment Methods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829544" y="2663354"/>
            <a:ext cx="265382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Balanced distribution: PayPal 677, Credit Card 671, Cash 670, Debit 636, Venmo 634, Bank Transfer 612.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553" y="2356842"/>
            <a:ext cx="1156320" cy="1156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94053" y="2356842"/>
            <a:ext cx="26538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Shipping &amp; Subscription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994053" y="2663354"/>
            <a:ext cx="265382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Subscription status: Yes 27%, No 73%. Dashboard shows free shipping and standard options commonly used.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Age &amp; Revenue Segments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62906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Young adults and middle-aged cohorts are primary revenue contributors. Tailor offers and express-shipping promotions to these segments to increase conversion and AOV.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5694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Dashboard Snapshot &amp; Recommendations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45332"/>
            <a:ext cx="5205933" cy="291651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71580" y="992981"/>
            <a:ext cx="2680990" cy="804714"/>
          </a:xfrm>
          <a:prstGeom prst="roundRect">
            <a:avLst>
              <a:gd name="adj" fmla="val 2023"/>
            </a:avLst>
          </a:prstGeom>
          <a:solidFill>
            <a:srgbClr val="F3F3F7"/>
          </a:solidFill>
          <a:ln w="14288">
            <a:solidFill>
              <a:srgbClr val="C6C6D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94363" y="1115764"/>
            <a:ext cx="243542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Boost Subscriptions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094363" y="1368326"/>
            <a:ext cx="243542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Promote exclusive subscriber benefits to raise the 27% adoption rate.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971580" y="1880741"/>
            <a:ext cx="2680990" cy="804714"/>
          </a:xfrm>
          <a:prstGeom prst="roundRect">
            <a:avLst>
              <a:gd name="adj" fmla="val 2023"/>
            </a:avLst>
          </a:prstGeom>
          <a:solidFill>
            <a:srgbClr val="F3F3F7"/>
          </a:solidFill>
          <a:ln w="14288">
            <a:solidFill>
              <a:srgbClr val="C6C6D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94363" y="2003524"/>
            <a:ext cx="243542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Customer Loyalty Program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094363" y="2256086"/>
            <a:ext cx="243542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Incentivize repeat buyers to enter a loyal cohort and increase lifetime value.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971580" y="2768501"/>
            <a:ext cx="2680990" cy="804714"/>
          </a:xfrm>
          <a:prstGeom prst="roundRect">
            <a:avLst>
              <a:gd name="adj" fmla="val 2023"/>
            </a:avLst>
          </a:prstGeom>
          <a:solidFill>
            <a:srgbClr val="F3F3F7"/>
          </a:solidFill>
          <a:ln w="14288">
            <a:solidFill>
              <a:srgbClr val="C6C6D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94363" y="2891284"/>
            <a:ext cx="243542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Review Discount Policy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094363" y="3143845"/>
            <a:ext cx="243542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promotional lift with margin control; target high-spend discount users carefully.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971580" y="3656261"/>
            <a:ext cx="2680990" cy="958007"/>
          </a:xfrm>
          <a:prstGeom prst="roundRect">
            <a:avLst>
              <a:gd name="adj" fmla="val 1699"/>
            </a:avLst>
          </a:prstGeom>
          <a:solidFill>
            <a:srgbClr val="F3F3F7"/>
          </a:solidFill>
          <a:ln w="14288">
            <a:solidFill>
              <a:srgbClr val="C6C6D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94363" y="3779044"/>
            <a:ext cx="243542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Product Positioning &amp; Targeting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94363" y="4031605"/>
            <a:ext cx="2435423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Highlight best-sellers and high-rated items; focus marketing on high-revenue age groups and top locations.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2026-07-08T15:01:39Z</dcterms:created>
  <dcterms:modified xsi:type="dcterms:W3CDTF">2026-07-08T15:01:39Z</dcterms:modified>
</cp:coreProperties>
</file>